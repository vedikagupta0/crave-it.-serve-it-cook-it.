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55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62127"/>
          </a:solidFill>
          <a:ln w="12700">
            <a:solidFill>
              <a:srgbClr val="1621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840480"/>
            <a:ext cx="1280160" cy="1280160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000000"/>
                </a:solidFill>
              </a:rPr>
              <a:t>🍳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Crave It. Search It. Cook It.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Recipe Chatbot  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3200400" cy="36576"/>
          </a:xfrm>
          <a:prstGeom prst="rect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any language. See the dish. Get the recipe.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416052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434340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452628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470916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36992" y="416052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36992" y="434340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36992" y="452628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470916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416052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434340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3024" y="452628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470916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49056" y="416052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49056" y="434340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49056" y="452628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4709160"/>
            <a:ext cx="64008" cy="64008"/>
          </a:xfrm>
          <a:prstGeom prst="ellipse">
            <a:avLst/>
          </a:prstGeom>
          <a:solidFill>
            <a:srgbClr val="CF9D7B">
              <a:alpha val="40000"/>
            </a:srgbClr>
          </a:solidFill>
          <a:ln w="12700">
            <a:solidFill>
              <a:srgbClr val="CF9D7B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30352" y="1481328"/>
            <a:ext cx="548640" cy="548640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727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984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16459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natural language — "Give me a quick weeknight pasta" — and get a chef-quality answer, not just a link.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19472" y="1481328"/>
            <a:ext cx="548640" cy="548640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5727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2984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First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77840" y="16459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retrieves the top dish images that match your query before the text response, so you see before you read.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278892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0352" y="3172968"/>
            <a:ext cx="548640" cy="548640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26440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9900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88720" y="33375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Hindi, Spanish, or Arabic. langdetect + Google Translate normalise everything to English internally.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54880" y="278892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19472" y="3172968"/>
            <a:ext cx="548640" cy="548640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26440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29900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577840" y="33375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InMemoryChatHistory keeps previous turns so follow-up questions like 'make that gluten-free' actually work.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4-Step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240280" y="2084832"/>
            <a:ext cx="228600" cy="54864"/>
          </a:xfrm>
          <a:prstGeom prst="rect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115568"/>
            <a:ext cx="822960" cy="822960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15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5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9768" y="202996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&amp; Translate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2724912"/>
            <a:ext cx="1719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langdetect identifies language; GoogleTranslator normalises to English. Zero friction for global users.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2084832"/>
            <a:ext cx="228600" cy="54864"/>
          </a:xfrm>
          <a:prstGeom prst="rect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00584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7520" y="1115568"/>
            <a:ext cx="822960" cy="822960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115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5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78608" y="202996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 Image Retrieval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608" y="2724912"/>
            <a:ext cx="1719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ViT-B-32 embeds the text query into the visual space. FAISS finds the top-k dish images by cosine similarity.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37960" y="2084832"/>
            <a:ext cx="228600" cy="54864"/>
          </a:xfrm>
          <a:prstGeom prst="rect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00584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66360" y="1115568"/>
            <a:ext cx="822960" cy="822960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115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5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27448" y="202996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MiniLM Text Retrieval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27448" y="2724912"/>
            <a:ext cx="1719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encodes the query; FAISS returns the top-5 recipe documents injected as RAG context.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100584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0" y="1115568"/>
            <a:ext cx="822960" cy="822960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115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5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76288" y="202996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LLM Generation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76288" y="2724912"/>
            <a:ext cx="1719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on Groq synthesises a structured recipe answer conditioned on retrieved context + chat history.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1508760" cy="594360"/>
          </a:xfrm>
          <a:prstGeom prst="roundRect">
            <a:avLst>
              <a:gd name="adj" fmla="val 7692"/>
            </a:avLst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9669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C1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— 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965960" y="99669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sentence-transformers/all-MiniLM-L6-v2  +  FAISS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32120" y="99669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dense embeddings; top-5 nearest-neighbour search in milliseconds.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27632"/>
            <a:ext cx="1508760" cy="594360"/>
          </a:xfrm>
          <a:prstGeom prst="roundRect">
            <a:avLst>
              <a:gd name="adj" fmla="val 7692"/>
            </a:avLst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6420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C1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— Image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65960" y="1664208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OpenCLIP ViT-B-32  +  FAISS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166420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text-image embedding space; text query returns visually closest dishes.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295144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95144"/>
            <a:ext cx="1508760" cy="594360"/>
          </a:xfrm>
          <a:prstGeom prst="roundRect">
            <a:avLst>
              <a:gd name="adj" fmla="val 7692"/>
            </a:avLst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3172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C1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65960" y="233172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langdetect  +  deep-translator (Google)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32120" y="23317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+ translate any language to English before retrieval.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62656"/>
            <a:ext cx="1508760" cy="594360"/>
          </a:xfrm>
          <a:prstGeom prst="roundRect">
            <a:avLst>
              <a:gd name="adj" fmla="val 7692"/>
            </a:avLst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99923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C1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65960" y="299923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on Groq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32120" y="299923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inference at 70B scale; structured recipe output with comparisons.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630168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630168"/>
            <a:ext cx="1508760" cy="594360"/>
          </a:xfrm>
          <a:prstGeom prst="roundRect">
            <a:avLst>
              <a:gd name="adj" fmla="val 7692"/>
            </a:avLst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6667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C1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65960" y="366674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LCEL  +  InMemoryChatHistory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2120" y="36667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operator chains retriever → prompt → LLM; history persists multi-turn context.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297680"/>
            <a:ext cx="1508760" cy="594360"/>
          </a:xfrm>
          <a:prstGeom prst="roundRect">
            <a:avLst>
              <a:gd name="adj" fmla="val 7692"/>
            </a:avLst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33425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C1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965960" y="433425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Recipe Dataset (images + ratings)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433425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metadata (tags, servings, ratings) gives MiniLM more signal per document.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Choices?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3385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CLIP for images?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CLIP's shared text-image embedding space means a text query like "chocolate cake" returns images scored by visual semantics — not filename matching or metadata tags.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00584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13385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MiniLM over larger models?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83480" y="1517904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is 80 MB and runs on CPU. Latency stays under 1 s per query even with thousands of indexed recipes — no GPU required at retrieval time.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05409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Groq + Llama-3.3-70B?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438144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LPU delivers 70B inference in under a second. Llama-3.3-70B is instruction-tuned for structured output, which maps naturally to recipe formatting.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292608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305409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single RAG column?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83480" y="3438144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Concatenating all metadata (name, ingredients, tags, ratings) into one string lets MiniLM capture cross-field semantics — "low-sugar Italian" retrieves across multiple columns at once.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Preprocessing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937760" cy="3840480"/>
          </a:xfrm>
          <a:prstGeom prst="roundRect">
            <a:avLst>
              <a:gd name="adj" fmla="val 1905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789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Recipe Dataset with Images, Tags &amp; Ratings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350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243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ingredients, description, servings, tags, ratings, image filename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1272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fills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servings → '4-5'  |  description → fallback string  |  ratings → {0, 0}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9044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column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1788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joined with ' ;; ' separator into one retrieval document per recipe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960120"/>
            <a:ext cx="3200400" cy="3840480"/>
          </a:xfrm>
          <a:prstGeom prst="roundRect">
            <a:avLst>
              <a:gd name="adj" fmla="val 2286"/>
            </a:avLst>
          </a:prstGeom>
          <a:solidFill>
            <a:srgbClr val="1A2228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078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F9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build_rag_column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5087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F9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concat_row(row):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parts = []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col in cols: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 = row[col]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isinstance(val,list):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 = ', '.join(val)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parts.append(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f'{col}: {val}'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' ;; '.join(parts)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Retrieval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972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Retrieval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2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901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(80 MB, CPU-friendly)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22585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2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2496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cosine similarity over recipe documents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8529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2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30906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recipes returned as RAG context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34472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2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6850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English query string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40416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2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4279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Documents with recipe_id metadata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96012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09728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4068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Retrieval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937760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2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937760" y="19019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OpenCLIP ViT-B-32 (openai weights)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937760" y="2258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2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937760" y="24963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over image embeddings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937760" y="2852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2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937760" y="309067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images displayed via matplotlib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937760" y="3447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2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937760" y="36850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English query, embedded as text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937760" y="40416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2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937760" y="42793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image share embedding space — no image query needed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LCEL Chain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0" y="1527048"/>
            <a:ext cx="301752" cy="45720"/>
          </a:xfrm>
          <a:prstGeom prst="rect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93976" y="1463040"/>
            <a:ext cx="73152" cy="164592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47872" y="1527048"/>
            <a:ext cx="301752" cy="45720"/>
          </a:xfrm>
          <a:prstGeom prst="rect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3048" y="1463040"/>
            <a:ext cx="73152" cy="164592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100584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76272" y="1051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76272" y="17190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top-5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66944" y="1527048"/>
            <a:ext cx="301752" cy="45720"/>
          </a:xfrm>
          <a:prstGeom prst="rect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1463040"/>
            <a:ext cx="73152" cy="164592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9624" y="100584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95344" y="1051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95344" y="17190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history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86016" y="1527048"/>
            <a:ext cx="301752" cy="45720"/>
          </a:xfrm>
          <a:prstGeom prst="rect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51192" y="1463040"/>
            <a:ext cx="73152" cy="164592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68696" y="100584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14416" y="1051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LLM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14416" y="17190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87768" y="100584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33488" y="1051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33488" y="17190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string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487168"/>
            <a:ext cx="8412480" cy="2331720"/>
          </a:xfrm>
          <a:prstGeom prst="roundRect">
            <a:avLst>
              <a:gd name="adj" fmla="val 3137"/>
            </a:avLst>
          </a:prstGeom>
          <a:solidFill>
            <a:srgbClr val="1A2228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606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F9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 =  (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29260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"context":  retriever,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"chat_history": RunnableLambda(lambda _: history.messages),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"question": lambda x: x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prompt  |  llm  |  StrOutputParser()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in Practice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46304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9496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2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63040" y="14630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नमक, हल्दी और मिर्च डालकर सब्ज़ी पकाएँ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94960" y="14630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salt, turmeric and chilli and cook the vegetables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128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2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63040" y="221284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Hervir la pasta durante 10 minutos y añadir salsa de tomate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94960" y="22128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the pasta for 10 minutes and add tomato sauce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96265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2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63040" y="296265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 l'huile d'olive, ail et oignon dans la poêle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94960" y="29626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olive oil, garlic and onion to the pan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639312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71246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2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63040" y="371246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ماء، أرز، وملح حسب الذوق ثم اطبخ لمدة 20 دقيقة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94960" y="37124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rice, and salt to taste then cook for 20 minutes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407408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1A2228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622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9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langdetect detects → GoogleTranslator normalises → English query enters retrieval unchanged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recipe_chat — The Entry Point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572000" cy="3886200"/>
          </a:xfrm>
          <a:prstGeom prst="roundRect">
            <a:avLst>
              <a:gd name="adj" fmla="val 1882"/>
            </a:avLst>
          </a:prstGeom>
          <a:solidFill>
            <a:srgbClr val="1A2228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78992"/>
            <a:ext cx="4251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F9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recipe_chat(query, top_images=3):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24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1. Translate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 = translate_to_english(query)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24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2. Visual retrieval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show_clip_gallery(en, k=top_images)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24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3. Text retrieval + generation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answer = chain.invoke(en)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24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4. Persist history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history.add_user_message(en)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history.add_ai_message(answer)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answer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0" y="96012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30368" y="1115568"/>
            <a:ext cx="475488" cy="475488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0368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15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06440" y="1051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translate_to_english detects + normalises before any retrieval runs.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1929384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30368" y="2084832"/>
            <a:ext cx="475488" cy="475488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15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06440" y="202082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show_clip_gallery fires first — user sees images before reading words.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2898648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30368" y="3054096"/>
            <a:ext cx="475488" cy="475488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15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06440" y="29900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chain.invoke feeds context + history to Groq in one LCEL call.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3867912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30368" y="4023360"/>
            <a:ext cx="475488" cy="475488"/>
          </a:xfrm>
          <a:prstGeom prst="ellipse">
            <a:avLst/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15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06440" y="395935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turns stored — follow-up queries inherit full conversation context.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162127"/>
          </a:solidFill>
          <a:ln w="12700">
            <a:solidFill>
              <a:srgbClr val="1621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724B39">
              <a:alpha val="30000"/>
            </a:srgbClr>
          </a:solidFill>
          <a:ln w="12700">
            <a:solidFill>
              <a:srgbClr val="724B39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24128"/>
            <a:ext cx="347472" cy="749808"/>
          </a:xfrm>
          <a:prstGeom prst="roundRect">
            <a:avLst>
              <a:gd name="adj" fmla="val 15789"/>
            </a:avLst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15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09728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retrieval (text + image) gives users two complementary entry points to the same knowledge base — neither alone is sufficient.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938528"/>
            <a:ext cx="347472" cy="749808"/>
          </a:xfrm>
          <a:prstGeom prst="roundRect">
            <a:avLst>
              <a:gd name="adj" fmla="val 15789"/>
            </a:avLst>
          </a:prstGeom>
          <a:solidFill>
            <a:srgbClr val="724B39"/>
          </a:solidFill>
          <a:ln w="12700">
            <a:solidFill>
              <a:srgbClr val="724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3852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15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01168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CLIP embedding space eliminates the need for separate image captioning or tagging pipelines — text queries find images out of the box.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852928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852928"/>
            <a:ext cx="347472" cy="749808"/>
          </a:xfrm>
          <a:prstGeom prst="roundRect">
            <a:avLst>
              <a:gd name="adj" fmla="val 15789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5292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292608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LCEL makes the chain readable and composable: swapping the LLM, retriever, or history backend is a one-line change.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767328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767328"/>
            <a:ext cx="347472" cy="749808"/>
          </a:xfrm>
          <a:prstGeom prst="roundRect">
            <a:avLst>
              <a:gd name="adj" fmla="val 15789"/>
            </a:avLst>
          </a:prstGeom>
          <a:solidFill>
            <a:srgbClr val="3A3534"/>
          </a:solidFill>
          <a:ln w="12700">
            <a:solidFill>
              <a:srgbClr val="3A3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6732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9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384048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RAG column design trades explicit field structure for holistic semantic coverage — a deliberate choice worth revisiting at scale.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8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Crave It. Search It. Cook 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1142</Words>
  <Application>Microsoft Office PowerPoint</Application>
  <PresentationFormat>On-screen Show (16:9)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Crave It. Search It. Cook It.</dc:title>
  <dc:subject>PptxGenJS Presentation</dc:subject>
  <dc:creator>PptxGenJS</dc:creator>
  <cp:lastModifiedBy>Vedika Gupta</cp:lastModifiedBy>
  <cp:revision>2</cp:revision>
  <dcterms:created xsi:type="dcterms:W3CDTF">2026-06-14T05:04:55Z</dcterms:created>
  <dcterms:modified xsi:type="dcterms:W3CDTF">2026-06-16T09:37:19Z</dcterms:modified>
</cp:coreProperties>
</file>